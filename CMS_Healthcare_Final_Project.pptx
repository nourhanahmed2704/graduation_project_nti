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71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synthetichealth.github.io/downloads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drive.google.com/drive/folders/1UEkG6xG5FK3Xfu8pjYVLxdS6njnGtDOf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822960" y="241935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D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DATA ANALYTICS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96012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CMS Synthetic Healthcare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Claims &amp; Insurance Analytics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5120640" cy="137160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22960" y="4892040"/>
            <a:ext cx="51206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b="1" i="1" dirty="0">
              <a:solidFill>
                <a:srgbClr val="5B6B7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3200" b="1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3</a:t>
            </a:r>
            <a:endParaRPr lang="en-US" sz="3200" b="1" i="1" dirty="0">
              <a:solidFill>
                <a:srgbClr val="5B6B7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NTI (Advanced Data Analytics) </a:t>
            </a:r>
            <a:endParaRPr lang="en-US" sz="1200" i="1" dirty="0">
              <a:solidFill>
                <a:srgbClr val="5B6B7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/ Eng. Shimaa Daowd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5-9-2026</a:t>
            </a:r>
            <a:endParaRPr lang="en-US" sz="1200" dirty="0"/>
          </a:p>
          <a:p>
            <a:pPr marL="0" indent="0" algn="ctr">
              <a:buNone/>
            </a:pPr>
            <a:r>
              <a:rPr lang="en-US" sz="3200" b="1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3200" b="1" dirty="0"/>
          </a:p>
        </p:txBody>
      </p:sp>
      <p:sp>
        <p:nvSpPr>
          <p:cNvPr id="9" name="Shape 7"/>
          <p:cNvSpPr/>
          <p:nvPr/>
        </p:nvSpPr>
        <p:spPr>
          <a:xfrm>
            <a:off x="6126480" y="4892040"/>
            <a:ext cx="5212080" cy="137160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126480" y="4892040"/>
            <a:ext cx="52120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i="1" dirty="0">
              <a:solidFill>
                <a:srgbClr val="5B6B7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Nourhan, </a:t>
            </a: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Malak </a:t>
            </a: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-&gt; Power BI </a:t>
            </a:r>
            <a:endParaRPr lang="en-US" sz="1200" i="1" dirty="0">
              <a:solidFill>
                <a:srgbClr val="5B6B7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Basnt -&gt; Tableau</a:t>
            </a:r>
            <a:endParaRPr lang="en-US" sz="1200" i="1" dirty="0">
              <a:solidFill>
                <a:srgbClr val="5B6B7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Dareen, </a:t>
            </a: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Clara </a:t>
            </a: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-&gt; Python</a:t>
            </a:r>
            <a:endParaRPr lang="en-US" sz="1200" i="1" dirty="0">
              <a:solidFill>
                <a:srgbClr val="5B6B7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en-US" sz="1200" i="1" dirty="0">
              <a:solidFill>
                <a:srgbClr val="5B6B7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walk you through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0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34440" y="1746504"/>
            <a:ext cx="0" cy="365760"/>
          </a:xfrm>
          <a:prstGeom prst="line">
            <a:avLst/>
          </a:prstGeom>
          <a:noFill/>
          <a:ln w="12700">
            <a:solidFill>
              <a:srgbClr val="AFC4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17320" y="1691640"/>
            <a:ext cx="4343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Problem &amp; Objectives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58568"/>
            <a:ext cx="640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34440" y="2313432"/>
            <a:ext cx="0" cy="365760"/>
          </a:xfrm>
          <a:prstGeom prst="line">
            <a:avLst/>
          </a:prstGeom>
          <a:noFill/>
          <a:ln w="12700">
            <a:solidFill>
              <a:srgbClr val="AFC4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7320" y="2258568"/>
            <a:ext cx="4343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&amp; Data Sources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25496"/>
            <a:ext cx="640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34440" y="2880360"/>
            <a:ext cx="0" cy="365760"/>
          </a:xfrm>
          <a:prstGeom prst="line">
            <a:avLst/>
          </a:prstGeom>
          <a:noFill/>
          <a:ln w="12700">
            <a:solidFill>
              <a:srgbClr val="AFC4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2825496"/>
            <a:ext cx="4343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 &amp; Preparation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92424"/>
            <a:ext cx="640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234440" y="3447288"/>
            <a:ext cx="0" cy="365760"/>
          </a:xfrm>
          <a:prstGeom prst="line">
            <a:avLst/>
          </a:prstGeom>
          <a:noFill/>
          <a:ln w="12700">
            <a:solidFill>
              <a:srgbClr val="AFC4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17320" y="3392424"/>
            <a:ext cx="4343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Modeling — Star Schema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691640"/>
            <a:ext cx="640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995160" y="1746504"/>
            <a:ext cx="0" cy="365760"/>
          </a:xfrm>
          <a:prstGeom prst="line">
            <a:avLst/>
          </a:prstGeom>
          <a:noFill/>
          <a:ln w="12700">
            <a:solidFill>
              <a:srgbClr val="AFC4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8040" y="1691640"/>
            <a:ext cx="4343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/ Tableau Dashboards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258568"/>
            <a:ext cx="640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95160" y="2313432"/>
            <a:ext cx="0" cy="365760"/>
          </a:xfrm>
          <a:prstGeom prst="line">
            <a:avLst/>
          </a:prstGeom>
          <a:noFill/>
          <a:ln w="12700">
            <a:solidFill>
              <a:srgbClr val="AFC4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2258568"/>
            <a:ext cx="4343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Analysis &amp; Predictive Modeling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825496"/>
            <a:ext cx="640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995160" y="2880360"/>
            <a:ext cx="0" cy="365760"/>
          </a:xfrm>
          <a:prstGeom prst="line">
            <a:avLst/>
          </a:prstGeom>
          <a:noFill/>
          <a:ln w="12700">
            <a:solidFill>
              <a:srgbClr val="AFC4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8040" y="2825496"/>
            <a:ext cx="4343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 &amp; Recommendations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392424"/>
            <a:ext cx="640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08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95160" y="3447288"/>
            <a:ext cx="0" cy="365760"/>
          </a:xfrm>
          <a:prstGeom prst="line">
            <a:avLst/>
          </a:prstGeom>
          <a:noFill/>
          <a:ln w="12700">
            <a:solidFill>
              <a:srgbClr val="AFC4C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78040" y="3392424"/>
            <a:ext cx="4343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&amp; Next Steps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CMS Synthetic Healthcare Analytics  |  Final Project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Problem &amp; Objectives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883410"/>
            <a:ext cx="128016" cy="12801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8" name="Text 6"/>
          <p:cNvSpPr txBox="1"/>
          <p:nvPr/>
        </p:nvSpPr>
        <p:spPr>
          <a:xfrm>
            <a:off x="784860" y="1701800"/>
            <a:ext cx="4541520" cy="12319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2400" b="1" dirty="0">
                <a:solidFill>
                  <a:srgbClr val="002060"/>
                </a:solidFill>
              </a:rPr>
              <a:t>Business Question</a:t>
            </a:r>
            <a:endParaRPr lang="en-US" alt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en-US" sz="1350" dirty="0"/>
              <a:t>How do clinical encounter types, high-cost drugs, and demographics drive $16.81M in healthcare costs, and how can ML models classify patient risk and forecast expenses to relieve facility strain?</a:t>
            </a:r>
            <a:endParaRPr lang="en-US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34330" y="1883410"/>
            <a:ext cx="128016" cy="12801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0" name="Text 8"/>
          <p:cNvSpPr txBox="1"/>
          <p:nvPr/>
        </p:nvSpPr>
        <p:spPr>
          <a:xfrm>
            <a:off x="5562600" y="1701800"/>
            <a:ext cx="589788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2400" b="1" dirty="0">
                <a:solidFill>
                  <a:srgbClr val="002060"/>
                </a:solidFill>
              </a:rPr>
              <a:t>Stakeholders</a:t>
            </a:r>
            <a:endParaRPr lang="en-US" alt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en-US" sz="1350" dirty="0"/>
              <a:t>Healthcare Analytics, Clinical Risk Management, Hospital Operations, and Financial Actuarial Teams.</a:t>
            </a:r>
            <a:endParaRPr lang="en-US" alt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2" name="Text 10"/>
          <p:cNvSpPr txBox="1"/>
          <p:nvPr/>
        </p:nvSpPr>
        <p:spPr>
          <a:xfrm>
            <a:off x="817245" y="3940810"/>
            <a:ext cx="4470400" cy="17005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2400" b="1" dirty="0">
                <a:solidFill>
                  <a:srgbClr val="002060"/>
                </a:solidFill>
              </a:rPr>
              <a:t>Decisions Supported</a:t>
            </a:r>
            <a:endParaRPr lang="en-US" altLang="en-US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en-US" sz="1350" b="1" dirty="0"/>
              <a:t>Financial</a:t>
            </a:r>
            <a:r>
              <a:rPr lang="en-US" altLang="en-US" sz="1350" dirty="0"/>
              <a:t>: Reduce $4.35M in uncovered costs by adjusting payer coverage strategies.</a:t>
            </a:r>
            <a:endParaRPr lang="en-US" altLang="en-US" sz="1350" dirty="0"/>
          </a:p>
          <a:p>
            <a:pPr marL="0" indent="0">
              <a:buNone/>
            </a:pPr>
            <a:r>
              <a:rPr lang="en-US" altLang="en-US" sz="1350" b="1" dirty="0"/>
              <a:t>Clinical</a:t>
            </a:r>
            <a:r>
              <a:rPr lang="en-US" altLang="en-US" sz="1350" dirty="0"/>
              <a:t>: Automate risk triage (High/Medium/Low) for severe cases (e.g., fractures, embolisms).</a:t>
            </a:r>
            <a:endParaRPr lang="en-US" altLang="en-US" sz="1350" dirty="0"/>
          </a:p>
          <a:p>
            <a:pPr marL="0" indent="0">
              <a:buNone/>
            </a:pPr>
            <a:r>
              <a:rPr lang="en-US" altLang="en-US" sz="1350" b="1" dirty="0"/>
              <a:t>Operations</a:t>
            </a:r>
            <a:r>
              <a:rPr lang="en-US" altLang="en-US" sz="1350" dirty="0"/>
              <a:t>: Balance provider workload and hospital capacity based on predicted demand and patient age stays</a:t>
            </a:r>
            <a:endParaRPr lang="en-US" alt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7980" y="4114800"/>
            <a:ext cx="128016" cy="12801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4" name="Text 12"/>
          <p:cNvSpPr txBox="1"/>
          <p:nvPr/>
        </p:nvSpPr>
        <p:spPr>
          <a:xfrm>
            <a:off x="5623560" y="3931285"/>
            <a:ext cx="6126480" cy="15170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2400" b="1" dirty="0">
                <a:solidFill>
                  <a:srgbClr val="002060"/>
                </a:solidFill>
              </a:rPr>
              <a:t>Success Criteria</a:t>
            </a:r>
            <a:endParaRPr lang="en-US" alt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en-US" sz="1350" b="1" dirty="0"/>
              <a:t>Predictive Accuracy</a:t>
            </a:r>
            <a:r>
              <a:rPr lang="en-US" altLang="en-US" sz="1350" dirty="0"/>
              <a:t>: High Accuracy in classification model &amp; NLP.</a:t>
            </a:r>
            <a:endParaRPr lang="en-US" altLang="en-US" sz="1350" dirty="0"/>
          </a:p>
          <a:p>
            <a:pPr marL="0" indent="0">
              <a:buNone/>
            </a:pPr>
            <a:r>
              <a:rPr lang="en-US" altLang="en-US" sz="1350" b="1" dirty="0"/>
              <a:t>Financial Impact</a:t>
            </a:r>
            <a:r>
              <a:rPr lang="en-US" altLang="en-US" sz="1350" dirty="0"/>
              <a:t>: Actionable feature importance metrics to reduce $4.35M in uncovered expenses.</a:t>
            </a:r>
            <a:endParaRPr lang="en-US" altLang="en-US" sz="1350" dirty="0"/>
          </a:p>
          <a:p>
            <a:pPr marL="0" indent="0">
              <a:buNone/>
            </a:pPr>
            <a:r>
              <a:rPr lang="en-US" altLang="en-US" sz="1350" b="1" dirty="0"/>
              <a:t>BI Synergy</a:t>
            </a:r>
            <a:r>
              <a:rPr lang="en-US" altLang="en-US" sz="1350" dirty="0"/>
              <a:t>: Full integration across Python modeling, Power BI financial KPIs, and Tableau operational dashboards.</a:t>
            </a:r>
            <a:endParaRPr lang="en-US" alt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6126480"/>
            <a:ext cx="6309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Reminder: CMS data here is synthetic — findings must not be used for real clinical conclusions.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CMS Synthetic Healthcare Analytics  |  Final Project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&amp; Data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48840" cy="2834640"/>
          </a:xfrm>
          <a:prstGeom prst="roundRect">
            <a:avLst>
              <a:gd name="adj" fmla="val 3404"/>
            </a:avLst>
          </a:prstGeom>
          <a:solidFill>
            <a:srgbClr val="EAF3F7"/>
          </a:solidFill>
          <a:ln w="9525">
            <a:solidFill>
              <a:srgbClr val="AFC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947672"/>
            <a:ext cx="192938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medications.csv</a:t>
            </a:r>
            <a:endParaRPr lang="en-US" altLang="en-US" sz="1400" b="1" dirty="0">
              <a:solidFill>
                <a:schemeClr val="accent5">
                  <a:lumMod val="75000"/>
                </a:schemeClr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58495" y="2604770"/>
            <a:ext cx="1929130" cy="45910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400" b="1" dirty="0">
                <a:solidFill>
                  <a:schemeClr val="accent5">
                    <a:lumMod val="75000"/>
                  </a:schemeClr>
                </a:solidFill>
              </a:rPr>
              <a:t>procedures.csv</a:t>
            </a:r>
            <a:endParaRPr lang="en-US" alt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2862072" y="1783080"/>
            <a:ext cx="2148840" cy="2834640"/>
          </a:xfrm>
          <a:prstGeom prst="roundRect">
            <a:avLst>
              <a:gd name="adj" fmla="val 3404"/>
            </a:avLst>
          </a:prstGeom>
          <a:solidFill>
            <a:srgbClr val="EAF3F7"/>
          </a:solidFill>
          <a:ln w="9525">
            <a:solidFill>
              <a:srgbClr val="AFC4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947672"/>
            <a:ext cx="192938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00" b="1" dirty="0">
                <a:solidFill>
                  <a:schemeClr val="accent5">
                    <a:lumMod val="75000"/>
                  </a:schemeClr>
                </a:solidFill>
              </a:rPr>
              <a:t>encounters.csv</a:t>
            </a:r>
            <a:endParaRPr lang="en-US" alt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971800" y="2612390"/>
            <a:ext cx="1929130" cy="3060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400" b="1" dirty="0">
                <a:solidFill>
                  <a:schemeClr val="accent5">
                    <a:lumMod val="75000"/>
                  </a:schemeClr>
                </a:solidFill>
              </a:rPr>
              <a:t>conditions.csv</a:t>
            </a:r>
            <a:endParaRPr lang="en-US" alt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75504" y="1783080"/>
            <a:ext cx="2148840" cy="2834640"/>
          </a:xfrm>
          <a:prstGeom prst="roundRect">
            <a:avLst>
              <a:gd name="adj" fmla="val 3404"/>
            </a:avLst>
          </a:prstGeom>
          <a:solidFill>
            <a:srgbClr val="EAF3F7"/>
          </a:solidFill>
          <a:ln w="9525">
            <a:solidFill>
              <a:srgbClr val="AFC4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85232" y="1947672"/>
            <a:ext cx="192938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00" b="1" dirty="0">
                <a:solidFill>
                  <a:schemeClr val="accent5">
                    <a:lumMod val="75000"/>
                  </a:schemeClr>
                </a:solidFill>
              </a:rPr>
              <a:t>claims_transactions.csv</a:t>
            </a:r>
            <a:endParaRPr lang="en-US" alt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340350" y="2612390"/>
            <a:ext cx="1929130" cy="5359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400" b="1" dirty="0">
                <a:solidFill>
                  <a:schemeClr val="accent5">
                    <a:lumMod val="75000"/>
                  </a:schemeClr>
                </a:solidFill>
              </a:rPr>
              <a:t>payers.csv</a:t>
            </a:r>
            <a:endParaRPr lang="en-US" alt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88936" y="1783080"/>
            <a:ext cx="2148840" cy="2834640"/>
          </a:xfrm>
          <a:prstGeom prst="roundRect">
            <a:avLst>
              <a:gd name="adj" fmla="val 3404"/>
            </a:avLst>
          </a:prstGeom>
          <a:solidFill>
            <a:srgbClr val="EAF3F7"/>
          </a:solidFill>
          <a:ln w="9525">
            <a:solidFill>
              <a:srgbClr val="AFC4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98664" y="1947672"/>
            <a:ext cx="192938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00" b="1" dirty="0">
                <a:solidFill>
                  <a:schemeClr val="accent5">
                    <a:lumMod val="75000"/>
                  </a:schemeClr>
                </a:solidFill>
              </a:rPr>
              <a:t>careplans.csv</a:t>
            </a:r>
            <a:endParaRPr lang="en-US" alt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598410" y="2560320"/>
            <a:ext cx="1929130" cy="599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400" b="1" dirty="0">
                <a:solidFill>
                  <a:schemeClr val="accent5">
                    <a:lumMod val="75000"/>
                  </a:schemeClr>
                </a:solidFill>
              </a:rPr>
              <a:t>claims.csv</a:t>
            </a:r>
            <a:endParaRPr lang="en-US" alt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802368" y="1783080"/>
            <a:ext cx="2148840" cy="2834640"/>
          </a:xfrm>
          <a:prstGeom prst="roundRect">
            <a:avLst>
              <a:gd name="adj" fmla="val 3404"/>
            </a:avLst>
          </a:prstGeom>
          <a:solidFill>
            <a:srgbClr val="EAF3F7"/>
          </a:solidFill>
          <a:ln w="9525">
            <a:solidFill>
              <a:srgbClr val="AFC4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12096" y="1947672"/>
            <a:ext cx="192938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Prescription (Part D) Events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912096" y="2560320"/>
            <a:ext cx="1929384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[# records, key fields — drug codes, days supply, cost]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397615" cy="12344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</p:sp>
      <p:sp>
        <p:nvSpPr>
          <p:cNvPr id="20" name="Text 18"/>
          <p:cNvSpPr txBox="1"/>
          <p:nvPr/>
        </p:nvSpPr>
        <p:spPr>
          <a:xfrm>
            <a:off x="822960" y="50292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Data</a:t>
            </a:r>
            <a:endParaRPr lang="en-US" altLang="en-US" b="1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22960" y="5349240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Dataset Link : </a:t>
            </a:r>
            <a:r>
              <a:rPr lang="en-US" altLang="en-US" sz="1200" dirty="0">
                <a:solidFill>
                  <a:schemeClr val="accent5">
                    <a:lumMod val="75000"/>
                  </a:schemeClr>
                </a:solidFill>
                <a:hlinkClick r:id="rId1" action="ppaction://hlinkfile"/>
              </a:rPr>
              <a:t>https://synthetichealth.github.io/downloads.html</a:t>
            </a:r>
            <a:endParaRPr lang="en-US" alt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endParaRPr lang="en-US" sz="12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CMS Synthetic Healthcare Analytics  |  Final Project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Box 23"/>
          <p:cNvSpPr txBox="1"/>
          <p:nvPr/>
        </p:nvSpPr>
        <p:spPr>
          <a:xfrm>
            <a:off x="658495" y="3105150"/>
            <a:ext cx="16325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 b="1">
                <a:solidFill>
                  <a:schemeClr val="accent5">
                    <a:lumMod val="75000"/>
                  </a:schemeClr>
                </a:solidFill>
              </a:rPr>
              <a:t>patients.csv</a:t>
            </a:r>
            <a:endParaRPr lang="en-US" altLang="en-US" sz="14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2971800" y="3110230"/>
            <a:ext cx="16325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 b="1">
                <a:solidFill>
                  <a:schemeClr val="accent5">
                    <a:lumMod val="75000"/>
                  </a:schemeClr>
                </a:solidFill>
              </a:rPr>
              <a:t>providers.csv</a:t>
            </a:r>
            <a:endParaRPr lang="en-US" altLang="en-US" b="1"/>
          </a:p>
          <a:p>
            <a:endParaRPr lang="en-US" altLang="en-US" b="1"/>
          </a:p>
        </p:txBody>
      </p:sp>
      <p:sp>
        <p:nvSpPr>
          <p:cNvPr id="28" name="Text Box 27"/>
          <p:cNvSpPr txBox="1"/>
          <p:nvPr/>
        </p:nvSpPr>
        <p:spPr>
          <a:xfrm>
            <a:off x="5340350" y="3185795"/>
            <a:ext cx="16268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 b="1">
                <a:solidFill>
                  <a:schemeClr val="accent5">
                    <a:lumMod val="75000"/>
                  </a:schemeClr>
                </a:solidFill>
              </a:rPr>
              <a:t>immunizations.csv</a:t>
            </a:r>
            <a:endParaRPr lang="en-US" altLang="en-US" sz="1400" b="1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Cleaning &amp; Preparation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065A82"/>
          </a:solidFill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3774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55800" y="2496185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065A82"/>
          </a:solidFill>
        </p:spPr>
      </p:sp>
      <p:sp>
        <p:nvSpPr>
          <p:cNvPr id="8" name="Text 6"/>
          <p:cNvSpPr txBox="1"/>
          <p:nvPr/>
        </p:nvSpPr>
        <p:spPr>
          <a:xfrm>
            <a:off x="1955800" y="2496185"/>
            <a:ext cx="23774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3220085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065A82"/>
          </a:solidFill>
        </p:spPr>
      </p:sp>
      <p:sp>
        <p:nvSpPr>
          <p:cNvPr id="11" name="Text 9"/>
          <p:cNvSpPr txBox="1"/>
          <p:nvPr/>
        </p:nvSpPr>
        <p:spPr>
          <a:xfrm>
            <a:off x="3931920" y="3220085"/>
            <a:ext cx="23774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Types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18835" y="3943350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065A82"/>
          </a:solidFill>
        </p:spPr>
      </p:sp>
      <p:sp>
        <p:nvSpPr>
          <p:cNvPr id="14" name="Text 12"/>
          <p:cNvSpPr txBox="1"/>
          <p:nvPr/>
        </p:nvSpPr>
        <p:spPr>
          <a:xfrm>
            <a:off x="5918835" y="3943350"/>
            <a:ext cx="23774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Invalid Dates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67880" y="4768850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065A82"/>
          </a:solidFill>
        </p:spPr>
      </p:sp>
      <p:sp>
        <p:nvSpPr>
          <p:cNvPr id="17" name="Text 15"/>
          <p:cNvSpPr txBox="1"/>
          <p:nvPr/>
        </p:nvSpPr>
        <p:spPr>
          <a:xfrm>
            <a:off x="7167880" y="4768850"/>
            <a:ext cx="23774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Inconsistencies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06765" y="5594350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065A82"/>
          </a:solidFill>
        </p:spPr>
      </p:sp>
      <p:sp>
        <p:nvSpPr>
          <p:cNvPr id="20" name="Text 18"/>
          <p:cNvSpPr txBox="1"/>
          <p:nvPr/>
        </p:nvSpPr>
        <p:spPr>
          <a:xfrm>
            <a:off x="8406765" y="5594350"/>
            <a:ext cx="23774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Outliers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CMS Synthetic Healthcare Analytics  |  Final Project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Modeling — Star Schema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Fact &amp; Dimension Classification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4382135" cy="1874520"/>
          </a:xfrm>
          <a:prstGeom prst="roundRect">
            <a:avLst>
              <a:gd name="adj" fmla="val 3415"/>
            </a:avLst>
          </a:prstGeom>
          <a:solidFill>
            <a:srgbClr val="EAF3F7"/>
          </a:solidFill>
          <a:ln w="9525">
            <a:solidFill>
              <a:srgbClr val="AFC4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06295"/>
            <a:ext cx="3237865" cy="3168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 Tables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50465"/>
            <a:ext cx="3250565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Fact_</a:t>
            </a:r>
            <a:r>
              <a:rPr lang="en-US" alt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encounters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Fact_</a:t>
            </a:r>
            <a:r>
              <a:rPr lang="en-US" alt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claim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Fact_</a:t>
            </a:r>
            <a:r>
              <a:rPr lang="en-US" alt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claims trascations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Fact_</a:t>
            </a:r>
            <a:r>
              <a:rPr lang="en-US" alt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conditions</a:t>
            </a:r>
            <a:endParaRPr lang="en-US" altLang="en-US" sz="1150" dirty="0">
              <a:solidFill>
                <a:srgbClr val="2129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CMS Synthetic Healthcare Analytics  |  Final Project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pic>
        <p:nvPicPr>
          <p:cNvPr id="15" name="Picture 14" descr="Star_Schem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1475" y="1600200"/>
            <a:ext cx="6256020" cy="4857750"/>
          </a:xfrm>
          <a:prstGeom prst="rect">
            <a:avLst/>
          </a:prstGeom>
        </p:spPr>
      </p:pic>
      <p:sp>
        <p:nvSpPr>
          <p:cNvPr id="16" name="Shape 6"/>
          <p:cNvSpPr/>
          <p:nvPr/>
        </p:nvSpPr>
        <p:spPr>
          <a:xfrm>
            <a:off x="548640" y="4173855"/>
            <a:ext cx="4382770" cy="1874520"/>
          </a:xfrm>
          <a:prstGeom prst="roundRect">
            <a:avLst>
              <a:gd name="adj" fmla="val 3415"/>
            </a:avLst>
          </a:prstGeom>
          <a:solidFill>
            <a:srgbClr val="EAF3F7"/>
          </a:solidFill>
          <a:ln w="9525">
            <a:solidFill>
              <a:srgbClr val="AFC4CC"/>
            </a:solidFill>
            <a:prstDash val="solid"/>
          </a:ln>
        </p:spPr>
      </p:sp>
      <p:sp>
        <p:nvSpPr>
          <p:cNvPr id="17" name="Text 7"/>
          <p:cNvSpPr txBox="1"/>
          <p:nvPr/>
        </p:nvSpPr>
        <p:spPr>
          <a:xfrm>
            <a:off x="731520" y="4265295"/>
            <a:ext cx="37179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Dimension / Lookup Tables</a:t>
            </a:r>
            <a:endParaRPr lang="en-US" sz="1200" dirty="0"/>
          </a:p>
        </p:txBody>
      </p:sp>
      <p:sp>
        <p:nvSpPr>
          <p:cNvPr id="18" name="Text 8"/>
          <p:cNvSpPr txBox="1"/>
          <p:nvPr/>
        </p:nvSpPr>
        <p:spPr>
          <a:xfrm>
            <a:off x="731520" y="4491355"/>
            <a:ext cx="3717925" cy="149288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Dim_patients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Dim_providers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Dim_organizations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Dim_procedures</a:t>
            </a:r>
            <a:endParaRPr lang="en-US" sz="1150" dirty="0">
              <a:solidFill>
                <a:srgbClr val="2129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Dim_payers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Calender  (Date Dimension)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 Walkthrough — Pages 1 &amp;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65760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39496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[Dashboard Page 1 screenshot]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[e.g., Executive Overview — KPIs, YTD/MTD, trend]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91640"/>
            <a:ext cx="5394960" cy="365760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217920" y="1691640"/>
            <a:ext cx="539496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[Dashboard Page 2 screenshot]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[e.g., Claims Cost Deep-Dive]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CMS Synthetic Healthcare Analytics  |  Final Project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12" name="Picture 11" descr="WhatsApp Image 2026-09-05 at 9.15.28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5638800" cy="3656965"/>
          </a:xfrm>
          <a:prstGeom prst="rect">
            <a:avLst/>
          </a:prstGeom>
        </p:spPr>
      </p:pic>
      <p:pic>
        <p:nvPicPr>
          <p:cNvPr id="13" name="Picture 12" descr="WhatsApp Image 2026-09-05 at 9.16.31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78305"/>
            <a:ext cx="5381625" cy="3693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 Walkthrough — Pages 3 &amp; 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65760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39496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[Dashboard Page 3 screenshot]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[e.g., Provider / Beneficiary Segmentation]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91640"/>
            <a:ext cx="5394960" cy="365760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217920" y="1691640"/>
            <a:ext cx="539496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[Dashboard Page 4 screenshot]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[Detail / drill-through page]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440680"/>
            <a:ext cx="5394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[One-line insight callout for Page 3]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5440680"/>
            <a:ext cx="5394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[One-line insight callout for Page 4]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CMS Synthetic Healthcare Analytics  |  Final Project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pic>
        <p:nvPicPr>
          <p:cNvPr id="12" name="Picture 11" descr="WhatsApp Image 2026-09-05 at 9.16.50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394960" cy="3656965"/>
          </a:xfrm>
          <a:prstGeom prst="rect">
            <a:avLst/>
          </a:prstGeom>
        </p:spPr>
      </p:pic>
      <p:pic>
        <p:nvPicPr>
          <p:cNvPr id="13" name="Picture 12" descr="WhatsApp Image 2026-09-05 at 9.17.24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394960" cy="3669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 Walkthrough — Pages 1 &amp; 2</a:t>
            </a:r>
            <a:endParaRPr lang="ar-EG" altLang="en-US" sz="3200" b="1" dirty="0">
              <a:solidFill>
                <a:srgbClr val="21295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65760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39496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91640"/>
            <a:ext cx="5394960" cy="365760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217920" y="1691640"/>
            <a:ext cx="539496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[Dashboard Page 4 screenshot]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[Detail / drill-through page]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CMS Synthetic Healthcare Analytics  |  Final Project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pic>
        <p:nvPicPr>
          <p:cNvPr id="12" name="Picture 11" descr="WhatsApp Image 2026-09-05 at 9.21.49 A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1470"/>
            <a:ext cx="5394960" cy="3752850"/>
          </a:xfrm>
          <a:prstGeom prst="rect">
            <a:avLst/>
          </a:prstGeom>
        </p:spPr>
      </p:pic>
      <p:pic>
        <p:nvPicPr>
          <p:cNvPr id="13" name="Picture 12" descr="WhatsApp Image 2026-09-05 at 9.21.49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3949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BI Interactivity Highlights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AF3F7"/>
          </a:solidFill>
        </p:spPr>
      </p:sp>
      <p:sp>
        <p:nvSpPr>
          <p:cNvPr id="5" name="Shape 3"/>
          <p:cNvSpPr/>
          <p:nvPr/>
        </p:nvSpPr>
        <p:spPr>
          <a:xfrm>
            <a:off x="749808" y="2029968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6" name="Text 4"/>
          <p:cNvSpPr txBox="1"/>
          <p:nvPr/>
        </p:nvSpPr>
        <p:spPr>
          <a:xfrm>
            <a:off x="749808" y="202996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74520"/>
            <a:ext cx="4343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Drill-down &amp; drill-through to detail page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97880" y="1737360"/>
            <a:ext cx="0" cy="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897880" y="1737360"/>
            <a:ext cx="0" cy="0"/>
          </a:xfrm>
          <a:prstGeom prst="rect">
            <a:avLst/>
          </a:prstGeom>
          <a:noFill/>
        </p:spPr>
        <p:txBody>
          <a:bodyPr wrap="square" rtlCol="0" anchor="ctr"/>
          <a:lstStyle>
            <a:lvl1pPr algn="l"/>
          </a:lstStyle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AF3F7"/>
          </a:solidFill>
        </p:spPr>
      </p:sp>
      <p:sp>
        <p:nvSpPr>
          <p:cNvPr id="11" name="Shape 9"/>
          <p:cNvSpPr/>
          <p:nvPr/>
        </p:nvSpPr>
        <p:spPr>
          <a:xfrm>
            <a:off x="6419088" y="2029968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2" name="Text 10"/>
          <p:cNvSpPr txBox="1"/>
          <p:nvPr/>
        </p:nvSpPr>
        <p:spPr>
          <a:xfrm>
            <a:off x="6419088" y="202996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874520"/>
            <a:ext cx="4343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Slicers &amp; report-page tooltips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567160" y="1737360"/>
            <a:ext cx="0" cy="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11567160" y="1737360"/>
            <a:ext cx="0" cy="0"/>
          </a:xfrm>
          <a:prstGeom prst="rect">
            <a:avLst/>
          </a:prstGeom>
          <a:noFill/>
        </p:spPr>
        <p:txBody>
          <a:bodyPr wrap="square" rtlCol="0" anchor="ctr"/>
          <a:lstStyle>
            <a:lvl1pPr algn="l"/>
          </a:lstStyle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AF3F7"/>
          </a:solidFill>
        </p:spPr>
      </p:sp>
      <p:sp>
        <p:nvSpPr>
          <p:cNvPr id="17" name="Shape 15"/>
          <p:cNvSpPr/>
          <p:nvPr/>
        </p:nvSpPr>
        <p:spPr>
          <a:xfrm>
            <a:off x="749808" y="3264408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8" name="Text 16"/>
          <p:cNvSpPr txBox="1"/>
          <p:nvPr/>
        </p:nvSpPr>
        <p:spPr>
          <a:xfrm>
            <a:off x="749808" y="326440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108960"/>
            <a:ext cx="4343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Navigation buttons &amp; bookmarks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97880" y="2971800"/>
            <a:ext cx="0" cy="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5897880" y="2971800"/>
            <a:ext cx="0" cy="0"/>
          </a:xfrm>
          <a:prstGeom prst="rect">
            <a:avLst/>
          </a:prstGeom>
          <a:noFill/>
        </p:spPr>
        <p:txBody>
          <a:bodyPr wrap="square" rtlCol="0" anchor="ctr"/>
          <a:lstStyle>
            <a:lvl1pPr algn="l"/>
          </a:lstStyle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0175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AF3F7"/>
          </a:solidFill>
        </p:spPr>
      </p:sp>
      <p:sp>
        <p:nvSpPr>
          <p:cNvPr id="23" name="Shape 21"/>
          <p:cNvSpPr/>
          <p:nvPr/>
        </p:nvSpPr>
        <p:spPr>
          <a:xfrm>
            <a:off x="6419088" y="3264408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4" name="Text 22"/>
          <p:cNvSpPr txBox="1"/>
          <p:nvPr/>
        </p:nvSpPr>
        <p:spPr>
          <a:xfrm>
            <a:off x="6419088" y="326440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3108960"/>
            <a:ext cx="4343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Q&amp;A visual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1567160" y="2971800"/>
            <a:ext cx="0" cy="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11567160" y="2971800"/>
            <a:ext cx="0" cy="0"/>
          </a:xfrm>
          <a:prstGeom prst="rect">
            <a:avLst/>
          </a:prstGeom>
          <a:noFill/>
        </p:spPr>
        <p:txBody>
          <a:bodyPr wrap="square" rtlCol="0" anchor="ctr"/>
          <a:lstStyle>
            <a:lvl1pPr algn="l"/>
          </a:lstStyle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25196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AF3F7"/>
          </a:solidFill>
        </p:spPr>
      </p:sp>
      <p:sp>
        <p:nvSpPr>
          <p:cNvPr id="29" name="Shape 27"/>
          <p:cNvSpPr/>
          <p:nvPr/>
        </p:nvSpPr>
        <p:spPr>
          <a:xfrm>
            <a:off x="749808" y="4498848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0" name="Text 28"/>
          <p:cNvSpPr txBox="1"/>
          <p:nvPr/>
        </p:nvSpPr>
        <p:spPr>
          <a:xfrm>
            <a:off x="749808" y="449884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4343400"/>
            <a:ext cx="4343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titles / KPI icons via DAX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4206240"/>
            <a:ext cx="0" cy="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5897880" y="4206240"/>
            <a:ext cx="0" cy="0"/>
          </a:xfrm>
          <a:prstGeom prst="rect">
            <a:avLst/>
          </a:prstGeom>
          <a:noFill/>
        </p:spPr>
        <p:txBody>
          <a:bodyPr wrap="square" rtlCol="0" anchor="ctr"/>
          <a:lstStyle>
            <a:lvl1pPr algn="l"/>
          </a:lstStyle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425196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AF3F7"/>
          </a:solidFill>
        </p:spPr>
      </p:sp>
      <p:sp>
        <p:nvSpPr>
          <p:cNvPr id="35" name="Shape 33"/>
          <p:cNvSpPr/>
          <p:nvPr/>
        </p:nvSpPr>
        <p:spPr>
          <a:xfrm>
            <a:off x="6419088" y="4498848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6" name="Text 34"/>
          <p:cNvSpPr txBox="1"/>
          <p:nvPr/>
        </p:nvSpPr>
        <p:spPr>
          <a:xfrm>
            <a:off x="6419088" y="449884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4343400"/>
            <a:ext cx="4343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Parameter-driven views (Tableau: Top N / Measure / Year selector)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1567160" y="4206240"/>
            <a:ext cx="0" cy="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11567160" y="4206240"/>
            <a:ext cx="0" cy="0"/>
          </a:xfrm>
          <a:prstGeom prst="rect">
            <a:avLst/>
          </a:prstGeom>
          <a:noFill/>
        </p:spPr>
        <p:txBody>
          <a:bodyPr wrap="square" rtlCol="0" anchor="ctr"/>
          <a:lstStyle>
            <a:lvl1pPr algn="l"/>
          </a:lstStyle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[Mark which items your team implemented, and where to see each one in the dashboard]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CMS Synthetic Healthcare Analytics  |  Final Project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Python Analysis — Descriptive &amp; Correlation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84048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39496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[Chart: descriptive statistics 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e.g., distribution of claim costs by type]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91640"/>
            <a:ext cx="5394960" cy="384048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217920" y="1691640"/>
            <a:ext cx="539496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[Chart: correlation heatmap 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claim cost vs. chronic conditions / length of stay]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CMS Synthetic Healthcare Analytics  |  Final Project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pic>
        <p:nvPicPr>
          <p:cNvPr id="12" name="Picture 11" descr="Correl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2205" y="1645920"/>
            <a:ext cx="5795645" cy="3920490"/>
          </a:xfrm>
          <a:prstGeom prst="rect">
            <a:avLst/>
          </a:prstGeom>
        </p:spPr>
      </p:pic>
      <p:pic>
        <p:nvPicPr>
          <p:cNvPr id="13" name="Picture 12" descr="Descriptive_S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8755"/>
            <a:ext cx="5395595" cy="4117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Python Analysis — ML models and NLP 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[Task type:  classification of high-cost beneficiaries / regression on claim cost / clustering of provider risk profiles]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492240" cy="338328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6492240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[Model output visual — confusion matrix,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importance, or predicted vs. actual plot]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2148840"/>
            <a:ext cx="4297680" cy="798830"/>
          </a:xfrm>
          <a:prstGeom prst="rect">
            <a:avLst/>
          </a:prstGeom>
          <a:solidFill>
            <a:srgbClr val="EAF3F7"/>
          </a:solidFill>
        </p:spPr>
      </p:sp>
      <p:sp>
        <p:nvSpPr>
          <p:cNvPr id="8" name="Text 6"/>
          <p:cNvSpPr txBox="1"/>
          <p:nvPr/>
        </p:nvSpPr>
        <p:spPr>
          <a:xfrm>
            <a:off x="7452360" y="2203704"/>
            <a:ext cx="4023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424430"/>
            <a:ext cx="4023360" cy="5016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: Random Forest</a:t>
            </a:r>
            <a:endParaRPr lang="en-US" sz="1150" dirty="0">
              <a:solidFill>
                <a:srgbClr val="2129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50" dirty="0"/>
              <a:t>Dataset: </a:t>
            </a:r>
            <a:r>
              <a:rPr lang="en-US" altLang="en-US" sz="1150" dirty="0"/>
              <a:t>encounters.csv (Label : ‘ENCOUNTERCLASS’)</a:t>
            </a:r>
            <a:endParaRPr lang="en-US" altLang="en-US" sz="1150" dirty="0"/>
          </a:p>
          <a:p>
            <a:pPr marL="0" indent="0">
              <a:buNone/>
            </a:pPr>
            <a:r>
              <a:rPr lang="en-US" sz="1150" dirty="0"/>
              <a:t>Accuracy: </a:t>
            </a:r>
            <a:r>
              <a:rPr lang="en-US" altLang="en-US" sz="1150" dirty="0"/>
              <a:t> 0.98</a:t>
            </a:r>
            <a:endParaRPr lang="en-US" alt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0" y="3017520"/>
            <a:ext cx="4297680" cy="777240"/>
          </a:xfrm>
          <a:prstGeom prst="rect">
            <a:avLst/>
          </a:prstGeom>
          <a:solidFill>
            <a:srgbClr val="EAF3F7"/>
          </a:solidFill>
        </p:spPr>
      </p:sp>
      <p:sp>
        <p:nvSpPr>
          <p:cNvPr id="11" name="Text 9"/>
          <p:cNvSpPr txBox="1"/>
          <p:nvPr/>
        </p:nvSpPr>
        <p:spPr>
          <a:xfrm>
            <a:off x="7452360" y="3072384"/>
            <a:ext cx="4023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333756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Model : Random Forest</a:t>
            </a:r>
            <a:endParaRPr lang="en-US" sz="1150" dirty="0">
              <a:solidFill>
                <a:srgbClr val="2129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50" dirty="0">
                <a:sym typeface="+mn-ea"/>
              </a:rPr>
              <a:t>Dataset: </a:t>
            </a:r>
            <a:r>
              <a:rPr lang="en-US" altLang="en-US" sz="1150" dirty="0">
                <a:sym typeface="+mn-ea"/>
              </a:rPr>
              <a:t>Patient</a:t>
            </a:r>
            <a:r>
              <a:rPr lang="en-US" altLang="en-US" sz="1150" dirty="0">
                <a:sym typeface="+mn-ea"/>
              </a:rPr>
              <a:t>.csv (Label : ‘HEALTHCARE_EXPENSES’)</a:t>
            </a:r>
            <a:endParaRPr lang="en-US" altLang="en-US" sz="1150" dirty="0"/>
          </a:p>
          <a:p>
            <a:pPr marL="0" indent="0">
              <a:buNone/>
            </a:pPr>
            <a:r>
              <a:rPr lang="en-US" sz="1150" dirty="0">
                <a:sym typeface="+mn-ea"/>
              </a:rPr>
              <a:t>Accuracy: </a:t>
            </a:r>
            <a:r>
              <a:rPr lang="en-US" altLang="en-US" sz="1150" dirty="0">
                <a:sym typeface="+mn-ea"/>
              </a:rPr>
              <a:t> 0.74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0" y="3886200"/>
            <a:ext cx="4297680" cy="777240"/>
          </a:xfrm>
          <a:prstGeom prst="rect">
            <a:avLst/>
          </a:prstGeom>
          <a:solidFill>
            <a:srgbClr val="EAF3F7"/>
          </a:solidFill>
        </p:spPr>
      </p:sp>
      <p:sp>
        <p:nvSpPr>
          <p:cNvPr id="14" name="Text 12"/>
          <p:cNvSpPr txBox="1"/>
          <p:nvPr/>
        </p:nvSpPr>
        <p:spPr>
          <a:xfrm>
            <a:off x="7452360" y="3941064"/>
            <a:ext cx="4023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4112260"/>
            <a:ext cx="4023360" cy="5803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Model : KMeans</a:t>
            </a:r>
            <a:endParaRPr lang="en-US" sz="1150" dirty="0">
              <a:solidFill>
                <a:srgbClr val="2129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sz="1150" dirty="0">
                <a:sym typeface="+mn-ea"/>
              </a:rPr>
              <a:t>Dataset: </a:t>
            </a:r>
            <a:r>
              <a:rPr lang="en-US" altLang="en-US" sz="1150" dirty="0">
                <a:sym typeface="+mn-ea"/>
              </a:rPr>
              <a:t>Patient.csv</a:t>
            </a:r>
            <a:endParaRPr lang="en-US" altLang="en-US" sz="1150" dirty="0">
              <a:sym typeface="+mn-ea"/>
            </a:endParaRPr>
          </a:p>
          <a:p>
            <a:pPr marL="0" indent="0">
              <a:buNone/>
            </a:pPr>
            <a:r>
              <a:rPr lang="en-US" sz="1150" dirty="0">
                <a:sym typeface="+mn-ea"/>
              </a:rPr>
              <a:t>Clusters : </a:t>
            </a:r>
            <a:r>
              <a:rPr lang="en-US" altLang="en-US" sz="1150" dirty="0">
                <a:sym typeface="+mn-ea"/>
              </a:rPr>
              <a:t>0, 1, 2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0" y="4754880"/>
            <a:ext cx="4297680" cy="777240"/>
          </a:xfrm>
          <a:prstGeom prst="rect">
            <a:avLst/>
          </a:prstGeom>
          <a:solidFill>
            <a:srgbClr val="EAF3F7"/>
          </a:solidFill>
        </p:spPr>
      </p:sp>
      <p:sp>
        <p:nvSpPr>
          <p:cNvPr id="17" name="Text 15"/>
          <p:cNvSpPr txBox="1"/>
          <p:nvPr/>
        </p:nvSpPr>
        <p:spPr>
          <a:xfrm>
            <a:off x="7452360" y="4809744"/>
            <a:ext cx="4023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010785"/>
            <a:ext cx="4023360" cy="4756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ym typeface="+mn-ea"/>
              </a:rPr>
              <a:t>Dataset: </a:t>
            </a:r>
            <a:r>
              <a:rPr lang="en-US" altLang="en-US" sz="1150" dirty="0">
                <a:sym typeface="+mn-ea"/>
              </a:rPr>
              <a:t>careplans</a:t>
            </a:r>
            <a:r>
              <a:rPr lang="en-US" altLang="en-US" sz="1150" dirty="0">
                <a:sym typeface="+mn-ea"/>
              </a:rPr>
              <a:t>.csv</a:t>
            </a:r>
            <a:endParaRPr lang="en-US" altLang="en-US" sz="1150" dirty="0">
              <a:sym typeface="+mn-ea"/>
            </a:endParaRPr>
          </a:p>
          <a:p>
            <a:pPr marL="0" indent="0">
              <a:buNone/>
            </a:pPr>
            <a:r>
              <a:rPr lang="en-US" altLang="en-US" sz="1150" dirty="0">
                <a:sym typeface="+mn-ea"/>
              </a:rPr>
              <a:t>Risk_Level</a:t>
            </a:r>
            <a:r>
              <a:rPr lang="en-US" sz="1150" dirty="0">
                <a:sym typeface="+mn-ea"/>
              </a:rPr>
              <a:t>: </a:t>
            </a:r>
            <a:r>
              <a:rPr lang="en-US" altLang="en-US" sz="1150" dirty="0">
                <a:sym typeface="+mn-ea"/>
              </a:rPr>
              <a:t> High, Medium, Low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CMS Synthetic Healthcare Analytics  |  Final Project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pic>
        <p:nvPicPr>
          <p:cNvPr id="25" name="Picture 24" descr="Classific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04390"/>
            <a:ext cx="3328670" cy="1781810"/>
          </a:xfrm>
          <a:prstGeom prst="rect">
            <a:avLst/>
          </a:prstGeom>
        </p:spPr>
      </p:pic>
      <p:pic>
        <p:nvPicPr>
          <p:cNvPr id="26" name="Picture 25" descr="Regre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870" y="2125980"/>
            <a:ext cx="3328035" cy="1760220"/>
          </a:xfrm>
          <a:prstGeom prst="rect">
            <a:avLst/>
          </a:prstGeom>
        </p:spPr>
      </p:pic>
      <p:pic>
        <p:nvPicPr>
          <p:cNvPr id="27" name="Picture 26" descr="Clust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86200"/>
            <a:ext cx="3643630" cy="1691640"/>
          </a:xfrm>
          <a:prstGeom prst="rect">
            <a:avLst/>
          </a:prstGeom>
        </p:spPr>
      </p:pic>
      <p:pic>
        <p:nvPicPr>
          <p:cNvPr id="28" name="Picture 27" descr="NL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840" y="3886200"/>
            <a:ext cx="2994025" cy="16706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Insights &amp; Recommendations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D8E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Insights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57400"/>
            <a:ext cx="475488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250" b="1" dirty="0">
                <a:solidFill>
                  <a:schemeClr val="bg1"/>
                </a:solidFill>
              </a:rPr>
              <a:t>High-Cost Exposure</a:t>
            </a:r>
            <a:r>
              <a:rPr lang="en-US" altLang="en-US" sz="1250" dirty="0">
                <a:solidFill>
                  <a:schemeClr val="bg1"/>
                </a:solidFill>
              </a:rPr>
              <a:t>: Healthcare expenses total $16.81M across 6K encounters, with $4.35M left uncovered due to cost disparities in specific encounter classes like Ambulatory (76.28% volume).</a:t>
            </a:r>
            <a:endParaRPr lang="en-US" altLang="en-US" sz="125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9" name="Text 7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108960"/>
            <a:ext cx="475488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250" b="1" dirty="0">
                <a:solidFill>
                  <a:schemeClr val="bg1"/>
                </a:solidFill>
              </a:rPr>
              <a:t>Operational Strain &amp; Bottlenecks</a:t>
            </a:r>
            <a:r>
              <a:rPr lang="en-US" altLang="en-US" sz="1250" dirty="0">
                <a:solidFill>
                  <a:schemeClr val="bg1"/>
                </a:solidFill>
              </a:rPr>
              <a:t>: Provider utilization is heavily imbalanced, where high-strain facilities experience disproportionately high claim costs and senior patients ($65+$) demand longer stay durations.</a:t>
            </a:r>
            <a:endParaRPr lang="en-US" altLang="en-US" sz="125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2" name="Text 10"/>
          <p:cNvSpPr txBox="1"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160520"/>
            <a:ext cx="475488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250" b="1" dirty="0">
                <a:solidFill>
                  <a:schemeClr val="bg1"/>
                </a:solidFill>
              </a:rPr>
              <a:t>Predictive Drivers &amp; Risk</a:t>
            </a:r>
            <a:r>
              <a:rPr lang="en-US" altLang="en-US" sz="1250" dirty="0">
                <a:solidFill>
                  <a:schemeClr val="bg1"/>
                </a:solidFill>
              </a:rPr>
              <a:t>: Clinical risk is driven by critical diagnoses (fractures, embolisms) and high-cost medications (e.g., Alteplase), where HEALTHCARE_COVERAGE and AGE serve as top predictors in cost modeling.</a:t>
            </a:r>
            <a:endParaRPr lang="en-US" altLang="en-US" sz="125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D8E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6" name="Text 14"/>
          <p:cNvSpPr txBox="1"/>
          <p:nvPr/>
        </p:nvSpPr>
        <p:spPr>
          <a:xfrm>
            <a:off x="6309360" y="2103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057400"/>
            <a:ext cx="4663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400" b="1" dirty="0">
                <a:solidFill>
                  <a:schemeClr val="bg1"/>
                </a:solidFill>
              </a:rPr>
              <a:t>Revenue Cycle &amp; Portfolio Risk Mitigation:</a:t>
            </a:r>
            <a:endParaRPr lang="en-US" altLang="en-US" sz="1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 sz="1250" dirty="0">
                <a:solidFill>
                  <a:schemeClr val="bg1"/>
                </a:solidFill>
              </a:rPr>
              <a:t>Renegotiate payer contracts and adjust coverage thresholds for high-volume segments (like Ambulatory care) to directly recapture the $4.35M uncovered cost exposure and protect profit margins.</a:t>
            </a:r>
            <a:endParaRPr lang="en-US" altLang="en-US" sz="125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09360" y="3154680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9" name="Text 17"/>
          <p:cNvSpPr txBox="1"/>
          <p:nvPr/>
        </p:nvSpPr>
        <p:spPr>
          <a:xfrm>
            <a:off x="6309360" y="31546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108960"/>
            <a:ext cx="4663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400" b="1" dirty="0">
                <a:solidFill>
                  <a:schemeClr val="bg1"/>
                </a:solidFill>
              </a:rPr>
              <a:t>Capacity Optimization &amp; Cost-Containment:</a:t>
            </a:r>
            <a:endParaRPr lang="en-US" altLang="en-US" sz="1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 sz="1250" dirty="0">
                <a:solidFill>
                  <a:schemeClr val="bg1"/>
                </a:solidFill>
              </a:rPr>
              <a:t>Implement predictive staff scheduling and patient load-balancing based on demand forecasts to reduce high-strain provider overtime, prevent clinician burnout, and eliminate defensive over-testing costs.</a:t>
            </a:r>
            <a:endParaRPr lang="en-US" altLang="en-US" sz="125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CMS Synthetic Healthcare Analytics  |  Final Project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EAF3F7"/>
          </a:solidFill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484632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alt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Data Scope</a:t>
            </a:r>
            <a:r>
              <a:rPr lang="en-US" altLang="en-US" sz="13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Generated data may not fully capture real-world patient behavior or complex clinical edge cases.</a:t>
            </a:r>
            <a:endParaRPr lang="en-US" altLang="en-US" sz="1300" dirty="0">
              <a:solidFill>
                <a:srgbClr val="2129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alt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Unstructured Diagnosis Text</a:t>
            </a:r>
            <a:r>
              <a:rPr lang="en-US" altLang="en-US" sz="13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Diagnostic descriptions (REASONDESCRIPTION) lack full clinical detail and standardized ICD codes.</a:t>
            </a:r>
            <a:r>
              <a:rPr lang="en-US" sz="1300" dirty="0">
                <a:solidFill>
                  <a:srgbClr val="002060"/>
                </a:solidFill>
              </a:rPr>
              <a:t> </a:t>
            </a:r>
            <a:endParaRPr lang="en-US" sz="1300" dirty="0">
              <a:solidFill>
                <a:srgbClr val="002060"/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altLang="en-US" sz="1300" b="1" dirty="0">
                <a:solidFill>
                  <a:srgbClr val="002060"/>
                </a:solidFill>
              </a:rPr>
              <a:t>Data Cleaning Challenges</a:t>
            </a:r>
            <a:r>
              <a:rPr lang="en-US" altLang="en-US" sz="1300" dirty="0">
                <a:solidFill>
                  <a:srgbClr val="002060"/>
                </a:solidFill>
              </a:rPr>
              <a:t>: High noise and missing values in specific fields</a:t>
            </a:r>
            <a:endParaRPr lang="en-US" altLang="en-US" sz="1300" dirty="0">
              <a:solidFill>
                <a:srgbClr val="00206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EAF3F7"/>
          </a:solidFill>
        </p:spPr>
      </p:sp>
      <p:sp>
        <p:nvSpPr>
          <p:cNvPr id="8" name="Text 6"/>
          <p:cNvSpPr txBox="1"/>
          <p:nvPr/>
        </p:nvSpPr>
        <p:spPr>
          <a:xfrm>
            <a:off x="6446520" y="192024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31720"/>
            <a:ext cx="484632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altLang="en-US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Incorporate Real EMR &amp; Claims Data</a:t>
            </a:r>
            <a:r>
              <a:rPr lang="en-US" altLang="en-US" sz="13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Validate models using authentic hospital Electronic Medical Records and actual insurance claim logs.</a:t>
            </a:r>
            <a:endParaRPr lang="en-US" altLang="en-US" sz="1300" dirty="0">
              <a:solidFill>
                <a:srgbClr val="2129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altLang="en-US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Model Tuning &amp; Deep Learning</a:t>
            </a:r>
            <a:r>
              <a:rPr lang="en-US" altLang="en-US" sz="13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Fine-tune BioBERT for multi-label risk classification and test XGBoost/LightGBM algorithms to boost cost regression R^2.</a:t>
            </a:r>
            <a:endParaRPr lang="en-US" altLang="en-US" sz="1300" dirty="0">
              <a:solidFill>
                <a:srgbClr val="2129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altLang="en-US" sz="13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BI Dashboard Integration</a:t>
            </a:r>
            <a:r>
              <a:rPr lang="en-US" altLang="en-US" sz="13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Add interactive risk-scoring calculators and automated forecasting alerts into Power BI and Tableau.</a:t>
            </a:r>
            <a:endParaRPr lang="en-US" altLang="en-US" sz="1300" dirty="0">
              <a:solidFill>
                <a:srgbClr val="2129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CMS Synthetic Healthcare Analytics  |  Final Project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Members &amp;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11630"/>
            <a:ext cx="2303145" cy="1451610"/>
          </a:xfrm>
          <a:prstGeom prst="roundRect">
            <a:avLst>
              <a:gd name="adj" fmla="val 2759"/>
            </a:avLst>
          </a:prstGeom>
          <a:solidFill>
            <a:srgbClr val="EAF3F7"/>
          </a:solidFill>
        </p:spPr>
      </p:sp>
      <p:sp>
        <p:nvSpPr>
          <p:cNvPr id="7" name="Text 5"/>
          <p:cNvSpPr txBox="1"/>
          <p:nvPr/>
        </p:nvSpPr>
        <p:spPr>
          <a:xfrm>
            <a:off x="457200" y="201168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Nourhan Ahmed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82930" y="2377440"/>
            <a:ext cx="2177415" cy="67754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altLang="en-US" sz="1150" dirty="0">
                <a:sym typeface="+mn-ea"/>
              </a:rPr>
              <a:t>cleaning &amp; modeling</a:t>
            </a:r>
            <a:endParaRPr lang="en-US" altLang="en-US" sz="1150" dirty="0"/>
          </a:p>
          <a:p>
            <a:pPr marL="0" indent="0" algn="ctr">
              <a:buNone/>
            </a:pPr>
            <a:r>
              <a:rPr lang="ar-EG" altLang="en-US" sz="1150" dirty="0"/>
              <a:t> &amp;</a:t>
            </a:r>
            <a:r>
              <a:rPr lang="en-US" sz="1150" dirty="0"/>
              <a:t>2 Dashboards using Power BI</a:t>
            </a:r>
            <a:r>
              <a:rPr lang="ar-EG" altLang="en-US" sz="1150" dirty="0"/>
              <a:t>&amp; </a:t>
            </a:r>
            <a:endParaRPr lang="en-US" alt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611630"/>
            <a:ext cx="2651760" cy="1451610"/>
          </a:xfrm>
          <a:prstGeom prst="roundRect">
            <a:avLst>
              <a:gd name="adj" fmla="val 2759"/>
            </a:avLst>
          </a:prstGeom>
          <a:solidFill>
            <a:srgbClr val="EAF3F7"/>
          </a:solidFill>
        </p:spPr>
      </p:sp>
      <p:sp>
        <p:nvSpPr>
          <p:cNvPr id="12" name="Text 10"/>
          <p:cNvSpPr txBox="1"/>
          <p:nvPr/>
        </p:nvSpPr>
        <p:spPr>
          <a:xfrm>
            <a:off x="3429000" y="201168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Malak Youssif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377440"/>
            <a:ext cx="23774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altLang="en-US" sz="1150" dirty="0">
                <a:sym typeface="+mn-ea"/>
              </a:rPr>
              <a:t>cleaning &amp; modeling</a:t>
            </a:r>
            <a:endParaRPr lang="en-US" altLang="en-US" sz="1150" dirty="0">
              <a:sym typeface="+mn-ea"/>
            </a:endParaRPr>
          </a:p>
          <a:p>
            <a:pPr marL="0" indent="0" algn="ctr">
              <a:buNone/>
            </a:pPr>
            <a:r>
              <a:rPr lang="ar-EG" altLang="en-US" sz="1150" dirty="0">
                <a:sym typeface="+mn-ea"/>
              </a:rPr>
              <a:t> &amp;</a:t>
            </a:r>
            <a:r>
              <a:rPr lang="en-US" sz="1150" dirty="0">
                <a:sym typeface="+mn-ea"/>
              </a:rPr>
              <a:t>2 Dashboards using Power BI</a:t>
            </a:r>
            <a:r>
              <a:rPr lang="ar-EG" altLang="en-US" sz="1150" dirty="0">
                <a:sym typeface="+mn-ea"/>
              </a:rPr>
              <a:t> </a:t>
            </a:r>
            <a:endParaRPr lang="en-US" altLang="en-US" sz="1150" dirty="0">
              <a:sym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1593215"/>
            <a:ext cx="2651760" cy="1445895"/>
          </a:xfrm>
          <a:prstGeom prst="roundRect">
            <a:avLst>
              <a:gd name="adj" fmla="val 2759"/>
            </a:avLst>
          </a:prstGeom>
          <a:solidFill>
            <a:srgbClr val="EAF3F7"/>
          </a:solidFill>
        </p:spPr>
      </p:sp>
      <p:sp>
        <p:nvSpPr>
          <p:cNvPr id="17" name="Text 15"/>
          <p:cNvSpPr txBox="1"/>
          <p:nvPr/>
        </p:nvSpPr>
        <p:spPr>
          <a:xfrm>
            <a:off x="6263640" y="2085340"/>
            <a:ext cx="2468880" cy="1549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Basnt Ibrahim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377440"/>
            <a:ext cx="2377440" cy="50228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altLang="en-US" sz="1150" dirty="0">
                <a:sym typeface="+mn-ea"/>
              </a:rPr>
              <a:t>cleaning &amp; modeling</a:t>
            </a:r>
            <a:endParaRPr lang="en-US" altLang="en-US" sz="1150" dirty="0">
              <a:sym typeface="+mn-ea"/>
            </a:endParaRPr>
          </a:p>
          <a:p>
            <a:pPr marL="0" indent="0" algn="ctr">
              <a:buNone/>
            </a:pPr>
            <a:r>
              <a:rPr lang="ar-EG" altLang="en-US" sz="1150" dirty="0"/>
              <a:t> &amp; </a:t>
            </a:r>
            <a:r>
              <a:rPr lang="en-US" sz="1150" dirty="0"/>
              <a:t>2 Dashboards using Tableau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/>
              <a:t>&amp; One story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61120" y="1593215"/>
            <a:ext cx="2651760" cy="1445895"/>
          </a:xfrm>
          <a:prstGeom prst="roundRect">
            <a:avLst>
              <a:gd name="adj" fmla="val 2759"/>
            </a:avLst>
          </a:prstGeom>
          <a:solidFill>
            <a:srgbClr val="EAF3F7"/>
          </a:solidFill>
        </p:spPr>
      </p:sp>
      <p:sp>
        <p:nvSpPr>
          <p:cNvPr id="22" name="Text 20"/>
          <p:cNvSpPr txBox="1"/>
          <p:nvPr/>
        </p:nvSpPr>
        <p:spPr>
          <a:xfrm>
            <a:off x="9052560" y="2085340"/>
            <a:ext cx="2468880" cy="1549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Dareen Elsayed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098280" y="2377440"/>
            <a:ext cx="2377440" cy="50228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/>
              <a:t>Python Anylsis (Statistics &amp; Correlation &amp; Clustering &amp; Classification &amp; NLP 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CMS Synthetic Healthcare Analytics  |  Final Project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4909820" y="3639820"/>
            <a:ext cx="2651760" cy="1811020"/>
          </a:xfrm>
          <a:prstGeom prst="roundRect">
            <a:avLst>
              <a:gd name="adj" fmla="val 2759"/>
            </a:avLst>
          </a:prstGeom>
          <a:solidFill>
            <a:srgbClr val="EAF3F7"/>
          </a:solidFill>
        </p:spPr>
      </p:sp>
      <p:sp>
        <p:nvSpPr>
          <p:cNvPr id="27" name="Text Box 26"/>
          <p:cNvSpPr txBox="1"/>
          <p:nvPr/>
        </p:nvSpPr>
        <p:spPr>
          <a:xfrm>
            <a:off x="5205730" y="3989070"/>
            <a:ext cx="20599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600" b="1">
                <a:solidFill>
                  <a:srgbClr val="002060"/>
                </a:solidFill>
              </a:rPr>
              <a:t>Clara Ehab</a:t>
            </a:r>
            <a:endParaRPr lang="en-US" sz="1600" b="1">
              <a:solidFill>
                <a:srgbClr val="002060"/>
              </a:solidFill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5351145" y="4385945"/>
            <a:ext cx="19145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/>
              <a:t>Python Analysis (</a:t>
            </a:r>
            <a:r>
              <a:rPr lang="en-US" altLang="en-US" sz="1200"/>
              <a:t>Time-Series Forecating &amp; Regression &amp; Describtive Analysis </a:t>
            </a:r>
            <a:r>
              <a:rPr lang="en-US" sz="1200"/>
              <a:t>)</a:t>
            </a:r>
            <a:endParaRPr lang="en-US" sz="1200"/>
          </a:p>
        </p:txBody>
      </p:sp>
      <p:sp>
        <p:nvSpPr>
          <p:cNvPr id="29" name="Text Box 28"/>
          <p:cNvSpPr txBox="1"/>
          <p:nvPr/>
        </p:nvSpPr>
        <p:spPr>
          <a:xfrm>
            <a:off x="5361940" y="4067810"/>
            <a:ext cx="1903730" cy="320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686800" y="41148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480560"/>
            <a:ext cx="5120640" cy="100584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22960" y="4480560"/>
            <a:ext cx="5120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1200" b="1" dirty="0"/>
              <a:t>Project Link : </a:t>
            </a:r>
            <a:r>
              <a:rPr lang="en-US" altLang="en-US" sz="1200" dirty="0">
                <a:hlinkClick r:id="rId1" action="ppaction://hlinkfile"/>
              </a:rPr>
              <a:t>https://drive.google.com/drive/folders/1UEkG6xG5FK3Xfu8pjYVLxdS6njnGtDOf?usp=sharing</a:t>
            </a:r>
            <a:endParaRPr lang="en-US" altLang="en-US" sz="1200" dirty="0"/>
          </a:p>
          <a:p>
            <a:pPr marL="0" indent="0" algn="ctr">
              <a:buNone/>
            </a:pPr>
            <a:endParaRPr lang="en-US" alt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4480560"/>
            <a:ext cx="5212080" cy="1005840"/>
          </a:xfrm>
          <a:prstGeom prst="rect">
            <a:avLst/>
          </a:prstGeom>
          <a:solidFill>
            <a:srgbClr val="F2F5F6"/>
          </a:solidFill>
          <a:ln w="12700">
            <a:solidFill>
              <a:srgbClr val="AFC4CC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239510" y="4480560"/>
            <a:ext cx="52120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NTI (Advanced Data Analytics) </a:t>
            </a:r>
            <a:endParaRPr lang="en-US" sz="1200" i="1" dirty="0">
              <a:solidFill>
                <a:srgbClr val="5B6B7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5-9-2026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7184</Words>
  <Application>WPS Presentation</Application>
  <PresentationFormat>On-screen Show (16:9)</PresentationFormat>
  <Paragraphs>393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WPS_1763508262</cp:lastModifiedBy>
  <cp:revision>6</cp:revision>
  <dcterms:created xsi:type="dcterms:W3CDTF">2026-09-04T20:02:00Z</dcterms:created>
  <dcterms:modified xsi:type="dcterms:W3CDTF">2026-09-05T06:25:28Z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2363A977A7A540D6846CAE2168C76DC8_12</vt:lpwstr>
  </property>
</Properties>
</file>